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494" y="-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7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anchor="b" bIns="0" lIns="45720" rIns="45720" tIns="0" vert="horz">
            <a:normAutofit/>
            <a:scene3d>
              <a:camera prst="orthographicFront"/>
              <a:lightRig dir="t" rig="sof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baseline="0" b="1" cap="all" sz="480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algn="tl" blurRad="127000" dir="2700000" dist="2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582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583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4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  <p:sp>
        <p:nvSpPr>
          <p:cNvPr id="1048585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/>
                </a:solidFill>
              </a:defRPr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bg>
      <p:bgRef idx="1003">
        <a:schemeClr val="bg2"/>
      </p:bgRef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anchor="b" bIns="0" vert="horz">
            <a:noAutofit/>
            <a:scene3d>
              <a:camera prst="orthographicFront"/>
              <a:lightRig dir="t" rig="sof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baseline="0" b="1" cap="none" sz="480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algn="tl" blurRad="114300" dir="2700000" dist="101600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60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algn="l" indent="0" marL="73152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6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6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3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3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1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indent="0" marL="0">
              <a:buNone/>
              <a:defRPr baseline="0" b="0" cap="all" sz="2400">
                <a:solidFill>
                  <a:schemeClr val="tx1"/>
                </a:solidFill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618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indent="0" marL="0">
              <a:buNone/>
              <a:defRPr baseline="0" b="0" cap="all" sz="2400">
                <a:solidFill>
                  <a:schemeClr val="tx1"/>
                </a:solidFill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619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2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2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62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4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64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vert="horz">
            <a:normAutofit/>
            <a:sp3d prstMaterial="softEdge"/>
          </a:bodyPr>
          <a:lstStyle>
            <a:lvl1pPr algn="l">
              <a:buNone/>
              <a:defRPr b="0" sz="220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70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indent="0" marL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671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7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67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anchor="b" bIns="0" lIns="45720" rIns="45720">
            <a:sp3d prstMaterial="softEdge"/>
          </a:bodyPr>
          <a:lstStyle>
            <a:lvl1pPr algn="ctr">
              <a:buNone/>
              <a:defRPr b="1" sz="20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54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r="2700000" dist="2286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dir="tr" rig="balanced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algn="l" eaLnBrk="1" hangingPunct="1" latinLnBrk="0" marL="0" rtl="0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dirty="0" kumimoji="0" lang="en-US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anchor="t" lIns="45720" rIns="45720" tIns="45720"/>
          <a:lstStyle>
            <a:lvl1pPr algn="ctr" indent="0" marL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6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4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vert="horz">
            <a:normAutofit/>
            <a:scene3d>
              <a:camera prst="orthographicFront"/>
              <a:lightRig dir="t" rig="soft">
                <a:rot lat="0" lon="0" rev="16800000"/>
              </a:lightRig>
            </a:scene3d>
            <a:sp3d prstMaterial="softEdge">
              <a:bevelT w="38100" h="38100"/>
            </a:sp3d>
          </a:bodyPr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577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/>
        </p:spPr>
        <p:txBody>
          <a:bodyPr vert="horz">
            <a:normAutofit/>
          </a:bodyPr>
          <a:p>
            <a:pPr eaLnBrk="1" hangingPunct="1" latinLnBrk="0" lvl="0"/>
            <a:r>
              <a:rPr kumimoji="0" lang="en-US" smtClean="0"/>
              <a:t>Click to edit Master text styles</a:t>
            </a:r>
          </a:p>
          <a:p>
            <a:pPr eaLnBrk="1" hangingPunct="1" latinLnBrk="0" lvl="1"/>
            <a:r>
              <a:rPr kumimoji="0" lang="en-US" smtClean="0"/>
              <a:t>Second level</a:t>
            </a:r>
          </a:p>
          <a:p>
            <a:pPr eaLnBrk="1" hangingPunct="1" latinLnBrk="0" lvl="2"/>
            <a:r>
              <a:rPr kumimoji="0" lang="en-US" smtClean="0"/>
              <a:t>Third level</a:t>
            </a:r>
          </a:p>
          <a:p>
            <a:pPr eaLnBrk="1" hangingPunct="1" latinLnBrk="0" lvl="3"/>
            <a:r>
              <a:rPr kumimoji="0" lang="en-US" smtClean="0"/>
              <a:t>Fourth level</a:t>
            </a:r>
          </a:p>
          <a:p>
            <a:pPr eaLnBrk="1" hangingPunct="1" latinLnBrk="0" lvl="4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48578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/>
        </p:spPr>
        <p:txBody>
          <a:bodyPr anchor="b" vert="horz"/>
          <a:lstStyle>
            <a:lvl1pPr algn="l" eaLnBrk="1" hangingPunct="1" latinLnBrk="0">
              <a:defRPr sz="1200" kumimoji="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AAAC588-D238-4490-8124-4ED8B9257836}" type="datetimeFigureOut">
              <a:rPr lang="en-US" smtClean="0"/>
              <a:t>1/19/2020</a:t>
            </a:fld>
            <a:endParaRPr lang="en-US"/>
          </a:p>
        </p:txBody>
      </p:sp>
      <p:sp>
        <p:nvSpPr>
          <p:cNvPr id="104857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/>
        </p:spPr>
        <p:txBody>
          <a:bodyPr anchor="b" vert="horz"/>
          <a:lstStyle>
            <a:lvl1pPr algn="ctr" eaLnBrk="1" hangingPunct="1" latinLnBrk="0">
              <a:defRPr sz="1200" kumimoji="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/>
        </p:spPr>
        <p:txBody>
          <a:bodyPr anchor="b" lIns="0" rIns="0" vert="horz"/>
          <a:lstStyle>
            <a:lvl1pPr algn="r" eaLnBrk="1" hangingPunct="1" latinLnBrk="0">
              <a:defRPr sz="1200" kumimoji="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4757FAE-4E3E-44A9-87E8-811D55BAD0AC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dk1" bg2="dk2" tx1="lt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eaLnBrk="1" hangingPunct="1" latinLnBrk="0" rtl="0">
        <a:spcBef>
          <a:spcPct val="0"/>
        </a:spcBef>
        <a:buNone/>
        <a:defRPr baseline="0" b="1" cap="none" sz="4100" kern="1200" kumimoji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algn="tl" blurRad="114300" dir="2700000" dist="101600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algn="l" eaLnBrk="1" hangingPunct="1" indent="-411480" latinLnBrk="0" marL="548640" rtl="0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sz="2800"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83464" latinLnBrk="0" marL="868680" rtl="0">
        <a:spcBef>
          <a:spcPct val="20000"/>
        </a:spcBef>
        <a:buClr>
          <a:schemeClr val="tx1"/>
        </a:buClr>
        <a:buSzPct val="80000"/>
        <a:buFont typeface="Wingdings 2"/>
        <a:buChar char=""/>
        <a:defRPr sz="2400"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indent="-228600" latinLnBrk="0" marL="1133856" rtl="0">
        <a:spcBef>
          <a:spcPct val="20000"/>
        </a:spcBef>
        <a:buClr>
          <a:schemeClr val="tx1"/>
        </a:buClr>
        <a:buSzPct val="95000"/>
        <a:buFont typeface="Wingdings"/>
        <a:buChar char=""/>
        <a:defRPr sz="2200"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182880" latinLnBrk="0" marL="1353312" rtl="0">
        <a:spcBef>
          <a:spcPct val="20000"/>
        </a:spcBef>
        <a:buClr>
          <a:schemeClr val="tx1"/>
        </a:buClr>
        <a:buSzPct val="100000"/>
        <a:buFont typeface="Wingdings 3"/>
        <a:buChar char="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182880" latinLnBrk="0" marL="1545336" rtl="0">
        <a:spcBef>
          <a:spcPct val="20000"/>
        </a:spcBef>
        <a:buClr>
          <a:schemeClr val="tx1"/>
        </a:buClr>
        <a:buFont typeface="Wingdings 2"/>
        <a:buChar char="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182880" latinLnBrk="0" marL="1764792" rtl="0">
        <a:spcBef>
          <a:spcPct val="20000"/>
        </a:spcBef>
        <a:buClr>
          <a:schemeClr val="tx1"/>
        </a:buClr>
        <a:buFont typeface="Wingdings 3"/>
        <a:buChar char="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965960" rtl="0">
        <a:spcBef>
          <a:spcPct val="20000"/>
        </a:spcBef>
        <a:buClr>
          <a:schemeClr val="tx1"/>
        </a:buClr>
        <a:buFont typeface="Wingdings 2"/>
        <a:buChar char=""/>
        <a:defRPr sz="1600"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167128" rtl="0">
        <a:spcBef>
          <a:spcPct val="20000"/>
        </a:spcBef>
        <a:buClr>
          <a:schemeClr val="tx1"/>
        </a:buClr>
        <a:buFont typeface="Wingdings 2"/>
        <a:buChar char=""/>
        <a:defRPr sz="1400"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368296" rtl="0">
        <a:spcBef>
          <a:spcPct val="20000"/>
        </a:spcBef>
        <a:buClr>
          <a:schemeClr val="tx1"/>
        </a:buClr>
        <a:buFont typeface="Wingdings 2"/>
        <a:buChar char=""/>
        <a:defRPr baseline="0" sz="1400" kern="1200" kumimoji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dirty="0" lang="en-ID" smtClean="0"/>
              <a:t/>
            </a:r>
            <a:br>
              <a:rPr dirty="0" lang="en-ID" smtClean="0"/>
            </a:br>
            <a:r>
              <a:rPr dirty="0" lang="en-US"/>
              <a:t/>
            </a:r>
            <a:br>
              <a:rPr dirty="0" lang="en-US"/>
            </a:br>
            <a:r>
              <a:rPr dirty="0" lang="en-US" smtClean="0"/>
              <a:t/>
            </a:r>
            <a:br>
              <a:rPr dirty="0" lang="en-US" smtClean="0"/>
            </a:br>
            <a:r>
              <a:rPr dirty="0" lang="en-US"/>
              <a:t/>
            </a:r>
            <a:br>
              <a:rPr dirty="0" lang="en-US"/>
            </a:br>
            <a:r>
              <a:rPr dirty="0" lang="en-US" smtClean="0"/>
              <a:t/>
            </a:r>
            <a:br>
              <a:rPr dirty="0" lang="en-US" smtClean="0"/>
            </a:br>
            <a:r>
              <a:rPr dirty="0" lang="en-US" smtClean="0"/>
              <a:t/>
            </a:r>
            <a:br>
              <a:rPr dirty="0" lang="en-US" smtClean="0"/>
            </a:br>
            <a:r>
              <a:rPr dirty="0" lang="en-US"/>
              <a:t/>
            </a:r>
            <a:br>
              <a:rPr dirty="0" lang="en-US"/>
            </a:br>
            <a:r>
              <a:rPr dirty="0" lang="en-US" smtClean="0"/>
              <a:t/>
            </a:r>
            <a:br>
              <a:rPr dirty="0" lang="en-US" smtClean="0"/>
            </a:br>
            <a:r>
              <a:rPr dirty="0" lang="en-US"/>
              <a:t/>
            </a:r>
            <a:br>
              <a:rPr dirty="0" lang="en-US"/>
            </a:br>
            <a:r>
              <a:rPr dirty="0" lang="en-US" smtClean="0"/>
              <a:t/>
            </a:r>
            <a:br>
              <a:rPr dirty="0" lang="en-US" smtClean="0"/>
            </a:br>
            <a:r>
              <a:rPr dirty="0" lang="en-US"/>
              <a:t/>
            </a:r>
            <a:br>
              <a:rPr dirty="0" lang="en-US"/>
            </a:br>
            <a:r>
              <a:rPr dirty="0" lang="en-US" smtClean="0"/>
              <a:t/>
            </a:r>
            <a:br>
              <a:rPr dirty="0" lang="en-US" smtClean="0"/>
            </a:br>
            <a:r>
              <a:rPr dirty="0" lang="en-US"/>
              <a:t/>
            </a:r>
            <a:br>
              <a:rPr dirty="0" lang="en-US"/>
            </a:br>
            <a:endParaRPr dirty="0" lang="en-US"/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1371600" y="1196752"/>
            <a:ext cx="6400800" cy="4442048"/>
          </a:xfrm>
        </p:spPr>
        <p:txBody>
          <a:bodyPr/>
          <a:p>
            <a:endParaRPr dirty="0" lang="id-ID" smtClean="0"/>
          </a:p>
          <a:p>
            <a:r>
              <a:rPr dirty="0" sz="4800" lang="id-ID" smtClean="0">
                <a:latin typeface="Times New Roman" pitchFamily="18" charset="0"/>
                <a:cs typeface="Times New Roman" pitchFamily="18" charset="0"/>
              </a:rPr>
              <a:t>KELOMPOK 5 </a:t>
            </a:r>
          </a:p>
          <a:p>
            <a:r>
              <a:rPr dirty="0" sz="4800" lang="id-ID" smtClean="0">
                <a:latin typeface="Times New Roman" pitchFamily="18" charset="0"/>
                <a:cs typeface="Times New Roman" pitchFamily="18" charset="0"/>
              </a:rPr>
              <a:t>XII TKJ 2</a:t>
            </a:r>
          </a:p>
          <a:p>
            <a:r>
              <a:rPr dirty="0" sz="6600" lang="en-ID" smtClean="0"/>
              <a:t>FIREWALL</a:t>
            </a:r>
            <a:endParaRPr dirty="0" sz="6600" lang="en-US"/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D" err="1" smtClean="0"/>
              <a:t>Pengertian</a:t>
            </a:r>
            <a:r>
              <a:rPr dirty="0" lang="en-ID" smtClean="0"/>
              <a:t> </a:t>
            </a:r>
            <a:endParaRPr dirty="0" lang="en-US"/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/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Firewall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adalah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sistem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keamanan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komputeryang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melindungi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beberapa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jenis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serangan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luar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.</a:t>
            </a:r>
            <a:endParaRPr dirty="0" lang="id-ID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Firewall merupakan sebuah sistem atau perangkat yang bertugas untuk mengatur lalu lintas jaringan yang dianggap aman untuk melewati dan mencegah lalu lintas jaringan yang dianggap tidak aman melewatinya.</a:t>
            </a:r>
            <a:endParaRPr dirty="0" lang="en-ID" smtClean="0">
              <a:latin typeface="Times New Roman" pitchFamily="18" charset="0"/>
              <a:cs typeface="Times New Roman" pitchFamily="18" charset="0"/>
            </a:endParaRPr>
          </a:p>
          <a:p>
            <a:endParaRPr dirty="0" lang="en-ID" smtClean="0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p>
            <a:r>
              <a:rPr dirty="0" lang="en-ID" err="1" smtClean="0"/>
              <a:t>Fungsi</a:t>
            </a:r>
            <a:r>
              <a:rPr dirty="0" lang="en-ID" smtClean="0"/>
              <a:t> firewall </a:t>
            </a:r>
            <a:br>
              <a:rPr dirty="0" lang="en-ID" smtClean="0"/>
            </a:br>
            <a:endParaRPr dirty="0" lang="en-US"/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Semua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komunikasi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melewati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firewall</a:t>
            </a: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Hanya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lalu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lintas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resmi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diperbolehkan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oleh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firewall</a:t>
            </a: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Memiliki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kemampuan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menahan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serangan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internet</a:t>
            </a: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Menjadi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pengontrol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pengawas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paket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data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masuk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dalam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endParaRPr dirty="0" sz="2400" lang="en-ID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Firewall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wajib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mengecek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memeriksa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terlebih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dahulu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paket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data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melalui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privat</a:t>
            </a:r>
            <a:endParaRPr dirty="0" sz="2400" lang="en-ID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Melaksanakan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auntentifikasi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kepada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akses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data</a:t>
            </a: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Memeriksa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lebih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sekedar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header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paket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data </a:t>
            </a: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Melalukan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pencatatan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pada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semua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transaksi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terjadi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difirewall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.</a:t>
            </a:r>
            <a:endParaRPr dirty="0" sz="240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457200" y="346646"/>
            <a:ext cx="8229600" cy="1354162"/>
          </a:xfrm>
        </p:spPr>
        <p:txBody>
          <a:bodyPr>
            <a:normAutofit/>
          </a:bodyPr>
          <a:p>
            <a:r>
              <a:rPr dirty="0" lang="en-ID" err="1" smtClean="0"/>
              <a:t>Beberapa</a:t>
            </a:r>
            <a:r>
              <a:rPr dirty="0" lang="en-ID" smtClean="0"/>
              <a:t> </a:t>
            </a:r>
            <a:r>
              <a:rPr dirty="0" lang="en-ID" err="1" smtClean="0"/>
              <a:t>kriteria</a:t>
            </a:r>
            <a:r>
              <a:rPr dirty="0" lang="en-ID" smtClean="0"/>
              <a:t> firewall </a:t>
            </a:r>
            <a:r>
              <a:rPr dirty="0" lang="en-ID" err="1" smtClean="0"/>
              <a:t>dalam</a:t>
            </a:r>
            <a:r>
              <a:rPr dirty="0" lang="en-ID" smtClean="0"/>
              <a:t> </a:t>
            </a:r>
            <a:r>
              <a:rPr dirty="0" lang="en-ID" err="1" smtClean="0"/>
              <a:t>memperbolehkan</a:t>
            </a:r>
            <a:r>
              <a:rPr dirty="0" lang="en-ID" smtClean="0"/>
              <a:t> </a:t>
            </a:r>
            <a:r>
              <a:rPr dirty="0" lang="en-ID" err="1" smtClean="0"/>
              <a:t>jalur</a:t>
            </a:r>
            <a:r>
              <a:rPr dirty="0" lang="en-ID" smtClean="0"/>
              <a:t> </a:t>
            </a:r>
            <a:r>
              <a:rPr dirty="0" lang="en-ID" err="1" smtClean="0"/>
              <a:t>paket</a:t>
            </a:r>
            <a:r>
              <a:rPr dirty="0" lang="en-ID" smtClean="0"/>
              <a:t> data</a:t>
            </a:r>
            <a:endParaRPr dirty="0" lang="en-US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248512"/>
          </a:xfrm>
        </p:spPr>
        <p:txBody>
          <a:bodyPr/>
          <a:p>
            <a:pPr algn="just"/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Alamat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IP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sumber</a:t>
            </a:r>
            <a:endParaRPr dirty="0" lang="en-ID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Port TCP/UDP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sumber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sumber</a:t>
            </a:r>
            <a:endParaRPr dirty="0" lang="en-ID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Alamat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 IP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tujuan</a:t>
            </a:r>
            <a:endParaRPr dirty="0" lang="en-ID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Port TCP/UDP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tujuan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data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pada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tujuan</a:t>
            </a:r>
            <a:endParaRPr dirty="0" lang="en-ID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Informasi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header yang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disimpan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dalam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paket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data</a:t>
            </a:r>
            <a:endParaRPr dirty="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p>
            <a:r>
              <a:rPr dirty="0" lang="en-ID" err="1" smtClean="0"/>
              <a:t>Manfaat</a:t>
            </a:r>
            <a:r>
              <a:rPr dirty="0" lang="en-ID" smtClean="0"/>
              <a:t> firewall </a:t>
            </a:r>
            <a:endParaRPr dirty="0" lang="en-US"/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Autofit/>
          </a:bodyPr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menjaga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informasi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rahasia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berharga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menyelinap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keluar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tanpa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sepengetahuan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Contoh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FTP (File Transfer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Ptotocol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lalu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lintas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organisasi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dikendalikan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oleh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firewall</a:t>
            </a: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Sebagai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filter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mencegah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lalu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lintas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tertentu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mengalir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ke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subnet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.</a:t>
            </a:r>
            <a:endParaRPr dirty="0" sz="2400" lang="en-US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memodifikasi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paket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data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datang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di firewall.</a:t>
            </a: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Akurasi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data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seperti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informasi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keuangan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spesifikasi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produk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harga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produk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sangat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penting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bagi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setiap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perkembangan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bisnis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Melindungi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akses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jarak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jauh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tidak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sah</a:t>
            </a:r>
            <a:endParaRPr dirty="0" sz="2400" lang="en-ID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Dapat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memblokir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pesan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menautkan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ke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konten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tidak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diinginkan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Me</a:t>
            </a:r>
            <a:r>
              <a:rPr dirty="0" sz="2400" lang="id-ID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jamin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gaming online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lebih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aman</a:t>
            </a:r>
            <a:endParaRPr dirty="0" sz="2400" lang="en-ID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p>
            <a:r>
              <a:rPr dirty="0" lang="en-ID" smtClean="0"/>
              <a:t>Cara </a:t>
            </a:r>
            <a:r>
              <a:rPr dirty="0" lang="en-ID" err="1" smtClean="0"/>
              <a:t>kerja</a:t>
            </a:r>
            <a:r>
              <a:rPr dirty="0" lang="en-ID" smtClean="0"/>
              <a:t> firewall</a:t>
            </a:r>
            <a:endParaRPr dirty="0" lang="en-US"/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/>
          <a:p>
            <a:pPr algn="just" indent="0" marL="0">
              <a:buNone/>
            </a:pP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Firewall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berada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diantara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kedua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seperti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internet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sehingga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firewall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berfungsi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sebagai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pelindung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 indent="0" marL="0">
              <a:buNone/>
            </a:pP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Tujuan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utama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adanya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firewall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adalah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user yang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tidak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menginginkan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lalu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lintas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berusaha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masuk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ke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namun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tidak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hanya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itu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saja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bisa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dilakukan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firewall.</a:t>
            </a:r>
          </a:p>
          <a:p>
            <a:pPr indent="0" marL="0">
              <a:buNone/>
            </a:pPr>
            <a:endParaRPr dirty="0" lang="en-ID" smtClean="0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p>
            <a:r>
              <a:rPr dirty="0" lang="en-ID" err="1" smtClean="0"/>
              <a:t>Koneksi</a:t>
            </a:r>
            <a:r>
              <a:rPr dirty="0" lang="en-ID" smtClean="0"/>
              <a:t> </a:t>
            </a:r>
            <a:r>
              <a:rPr dirty="0" lang="en-ID" err="1" smtClean="0"/>
              <a:t>dan</a:t>
            </a:r>
            <a:r>
              <a:rPr dirty="0" lang="en-ID" smtClean="0"/>
              <a:t> </a:t>
            </a:r>
            <a:r>
              <a:rPr dirty="0" lang="en-ID" err="1" smtClean="0"/>
              <a:t>keadaan</a:t>
            </a:r>
            <a:r>
              <a:rPr dirty="0" lang="en-ID" smtClean="0"/>
              <a:t> </a:t>
            </a:r>
            <a:r>
              <a:rPr dirty="0" lang="en-ID" err="1" smtClean="0"/>
              <a:t>koneksi</a:t>
            </a:r>
            <a:r>
              <a:rPr dirty="0" lang="en-ID" smtClean="0"/>
              <a:t/>
            </a:r>
            <a:br>
              <a:rPr dirty="0" lang="en-ID" smtClean="0"/>
            </a:br>
            <a:endParaRPr dirty="0" lang="en-US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p>
            <a:pPr algn="just"/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Agar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dua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host TCP/IP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dapat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berkomunikasi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meraka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harus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saling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membuat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koneksi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anatara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satu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lainnya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Koneksi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ini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bertujuan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tujuan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algn="just" indent="0" marL="0">
              <a:buNone/>
            </a:pPr>
            <a:r>
              <a:rPr dirty="0" sz="28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dapat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koneksi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tersebut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mengidentifikasi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dirinya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kepada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lain</a:t>
            </a:r>
          </a:p>
          <a:p>
            <a:pPr algn="just" indent="0" marL="0">
              <a:buNone/>
            </a:pP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Koneksi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menentukan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bagaimana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cara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dua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host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tersebut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akan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berkomunikasi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anatara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satu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dirty="0" sz="280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2800" lang="en-ID" err="1" smtClean="0">
                <a:latin typeface="Times New Roman" pitchFamily="18" charset="0"/>
                <a:cs typeface="Times New Roman" pitchFamily="18" charset="0"/>
              </a:rPr>
              <a:t>lainnya</a:t>
            </a:r>
            <a:r>
              <a:rPr dirty="0" sz="2800" lang="en-ID" smtClean="0"/>
              <a:t>.</a:t>
            </a:r>
            <a:endParaRPr dirty="0" sz="2800" lang="en-US"/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D" err="1" smtClean="0"/>
              <a:t>Jenis</a:t>
            </a:r>
            <a:r>
              <a:rPr dirty="0" lang="id-ID" smtClean="0"/>
              <a:t> –</a:t>
            </a:r>
            <a:r>
              <a:rPr dirty="0" lang="en-ID" smtClean="0"/>
              <a:t> </a:t>
            </a:r>
            <a:r>
              <a:rPr dirty="0" lang="en-ID" err="1" smtClean="0"/>
              <a:t>Jenis</a:t>
            </a:r>
            <a:r>
              <a:rPr dirty="0" lang="id-ID" smtClean="0"/>
              <a:t> Firewall</a:t>
            </a:r>
            <a:r>
              <a:rPr dirty="0" lang="en-ID" smtClean="0"/>
              <a:t> </a:t>
            </a:r>
            <a:endParaRPr dirty="0" lang="en-US"/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 indent="0" marL="0">
              <a:buNone/>
            </a:pP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Personal Firewall</a:t>
            </a:r>
            <a:endParaRPr dirty="0" sz="3600" lang="en-ID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Sebagai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pelindung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komputer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tersambung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pada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akses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tidak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ID" err="1" smtClean="0">
                <a:latin typeface="Times New Roman" pitchFamily="18" charset="0"/>
                <a:cs typeface="Times New Roman" pitchFamily="18" charset="0"/>
              </a:rPr>
              <a:t>diizinkan</a:t>
            </a:r>
            <a:r>
              <a:rPr dirty="0" sz="3600" lang="en-ID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dirty="0" sz="3600" lang="en-US" err="1" smtClean="0">
                <a:latin typeface="Times New Roman" pitchFamily="18" charset="0"/>
                <a:cs typeface="Times New Roman" pitchFamily="18" charset="0"/>
              </a:rPr>
              <a:t>mempunyai</a:t>
            </a:r>
            <a:r>
              <a:rPr dirty="0" sz="3600"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US" err="1" smtClean="0">
                <a:latin typeface="Times New Roman" pitchFamily="18" charset="0"/>
                <a:cs typeface="Times New Roman" pitchFamily="18" charset="0"/>
              </a:rPr>
              <a:t>dua</a:t>
            </a:r>
            <a:r>
              <a:rPr dirty="0" sz="3600"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US" err="1" smtClean="0">
                <a:latin typeface="Times New Roman" pitchFamily="18" charset="0"/>
                <a:cs typeface="Times New Roman" pitchFamily="18" charset="0"/>
              </a:rPr>
              <a:t>fitur</a:t>
            </a:r>
            <a:r>
              <a:rPr dirty="0" sz="3600"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US" err="1" smtClean="0">
                <a:latin typeface="Times New Roman" pitchFamily="18" charset="0"/>
                <a:cs typeface="Times New Roman" pitchFamily="18" charset="0"/>
              </a:rPr>
              <a:t>utama</a:t>
            </a:r>
            <a:r>
              <a:rPr dirty="0" sz="3600"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US" err="1" smtClean="0">
                <a:latin typeface="Times New Roman" pitchFamily="18" charset="0"/>
                <a:cs typeface="Times New Roman" pitchFamily="18" charset="0"/>
              </a:rPr>
              <a:t>yakni</a:t>
            </a:r>
            <a:r>
              <a:rPr dirty="0" sz="3600" lang="en-US" smtClean="0">
                <a:latin typeface="Times New Roman" pitchFamily="18" charset="0"/>
                <a:cs typeface="Times New Roman" pitchFamily="18" charset="0"/>
              </a:rPr>
              <a:t> packet filter firewall </a:t>
            </a:r>
            <a:r>
              <a:rPr dirty="0" sz="3600" lang="en-US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dirty="0" sz="3600"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3600" lang="en-US" err="1" smtClean="0">
                <a:latin typeface="Times New Roman" pitchFamily="18" charset="0"/>
                <a:cs typeface="Times New Roman" pitchFamily="18" charset="0"/>
              </a:rPr>
              <a:t>stateful</a:t>
            </a:r>
            <a:r>
              <a:rPr dirty="0" sz="3600" lang="en-US" smtClean="0">
                <a:latin typeface="Times New Roman" pitchFamily="18" charset="0"/>
                <a:cs typeface="Times New Roman" pitchFamily="18" charset="0"/>
              </a:rPr>
              <a:t> firewall</a:t>
            </a:r>
          </a:p>
          <a:p>
            <a:endParaRPr dirty="0" lang="en-ID" smtClean="0"/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dirty="0" lang="en-ID" smtClean="0"/>
              <a:t/>
            </a:r>
            <a:br>
              <a:rPr dirty="0" lang="en-ID" smtClean="0"/>
            </a:br>
            <a:r>
              <a:rPr dirty="0" lang="en-ID" smtClean="0"/>
              <a:t>2. </a:t>
            </a:r>
            <a:r>
              <a:rPr dirty="0" lang="en-ID" smtClean="0"/>
              <a:t>Network Firewall</a:t>
            </a:r>
            <a:br>
              <a:rPr dirty="0" lang="en-ID" smtClean="0"/>
            </a:br>
            <a:endParaRPr dirty="0" lang="en-US"/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just" indent="0" marL="0">
              <a:buNone/>
            </a:pPr>
            <a:r>
              <a:rPr dirty="0" sz="2400" lang="en-ID" smtClean="0"/>
              <a:t>Network firewall </a:t>
            </a:r>
            <a:r>
              <a:rPr dirty="0" sz="2400" lang="en-ID" err="1" smtClean="0"/>
              <a:t>dibuat</a:t>
            </a:r>
            <a:r>
              <a:rPr dirty="0" sz="2400" lang="en-ID" smtClean="0"/>
              <a:t> </a:t>
            </a:r>
            <a:r>
              <a:rPr dirty="0" sz="2400" lang="en-ID" err="1" smtClean="0"/>
              <a:t>sebagai</a:t>
            </a:r>
            <a:r>
              <a:rPr dirty="0" sz="2400" lang="en-ID" smtClean="0"/>
              <a:t> </a:t>
            </a:r>
            <a:r>
              <a:rPr dirty="0" sz="2400" lang="en-ID" err="1" smtClean="0"/>
              <a:t>pelindung</a:t>
            </a:r>
            <a:r>
              <a:rPr dirty="0" sz="2400" lang="en-ID" smtClean="0"/>
              <a:t> </a:t>
            </a:r>
            <a:r>
              <a:rPr dirty="0" sz="2400" lang="en-ID" err="1" smtClean="0"/>
              <a:t>jaringan</a:t>
            </a:r>
            <a:r>
              <a:rPr dirty="0" sz="2400" lang="en-ID" smtClean="0"/>
              <a:t> </a:t>
            </a:r>
            <a:r>
              <a:rPr dirty="0" sz="2400" lang="en-ID" err="1" smtClean="0"/>
              <a:t>secara</a:t>
            </a:r>
            <a:r>
              <a:rPr dirty="0" sz="2400" lang="en-ID" smtClean="0"/>
              <a:t> </a:t>
            </a:r>
            <a:r>
              <a:rPr dirty="0" sz="2400" lang="en-ID" err="1" smtClean="0"/>
              <a:t>keseluruhan</a:t>
            </a:r>
            <a:r>
              <a:rPr dirty="0" sz="2400" lang="en-ID" smtClean="0"/>
              <a:t> </a:t>
            </a:r>
            <a:r>
              <a:rPr dirty="0" sz="2400" lang="en-ID" err="1" smtClean="0"/>
              <a:t>dari</a:t>
            </a:r>
            <a:r>
              <a:rPr dirty="0" sz="2400" lang="en-ID" smtClean="0"/>
              <a:t> </a:t>
            </a:r>
            <a:r>
              <a:rPr dirty="0" sz="2400" lang="en-ID" err="1" smtClean="0"/>
              <a:t>semua</a:t>
            </a:r>
            <a:r>
              <a:rPr dirty="0" sz="2400" lang="en-ID" smtClean="0"/>
              <a:t> </a:t>
            </a:r>
            <a:r>
              <a:rPr dirty="0" sz="2400" lang="en-ID" err="1" smtClean="0"/>
              <a:t>serangan.umumnya</a:t>
            </a:r>
            <a:r>
              <a:rPr dirty="0" sz="2400" lang="en-ID" smtClean="0"/>
              <a:t> </a:t>
            </a:r>
            <a:r>
              <a:rPr dirty="0" sz="2400" lang="en-ID" err="1" smtClean="0"/>
              <a:t>mempunyai</a:t>
            </a:r>
            <a:r>
              <a:rPr dirty="0" sz="2400" lang="en-ID" smtClean="0"/>
              <a:t> </a:t>
            </a:r>
            <a:r>
              <a:rPr dirty="0" sz="2400" lang="en-ID" err="1" smtClean="0"/>
              <a:t>sifat</a:t>
            </a:r>
            <a:r>
              <a:rPr dirty="0" sz="2400" lang="en-ID" smtClean="0"/>
              <a:t> </a:t>
            </a:r>
            <a:r>
              <a:rPr dirty="0" sz="2400" lang="en-ID" err="1" smtClean="0"/>
              <a:t>transparan</a:t>
            </a:r>
            <a:r>
              <a:rPr dirty="0" sz="2400" lang="en-ID" smtClean="0"/>
              <a:t> </a:t>
            </a:r>
            <a:r>
              <a:rPr dirty="0" sz="2400" lang="en-ID" err="1" smtClean="0"/>
              <a:t>dari</a:t>
            </a:r>
            <a:r>
              <a:rPr dirty="0" sz="2400" lang="en-ID" smtClean="0"/>
              <a:t> </a:t>
            </a:r>
            <a:r>
              <a:rPr dirty="0" sz="2400" lang="en-ID" err="1" smtClean="0"/>
              <a:t>pengguna</a:t>
            </a:r>
            <a:r>
              <a:rPr dirty="0" sz="2400" lang="en-ID" smtClean="0"/>
              <a:t> </a:t>
            </a:r>
            <a:r>
              <a:rPr dirty="0" sz="2400" lang="en-ID" err="1" smtClean="0"/>
              <a:t>dan</a:t>
            </a:r>
            <a:r>
              <a:rPr dirty="0" sz="2400" lang="en-ID" smtClean="0"/>
              <a:t> </a:t>
            </a:r>
            <a:r>
              <a:rPr dirty="0" sz="2400" lang="en-ID" err="1" smtClean="0"/>
              <a:t>memakai</a:t>
            </a:r>
            <a:r>
              <a:rPr dirty="0" sz="2400" lang="en-ID" smtClean="0"/>
              <a:t> </a:t>
            </a:r>
            <a:r>
              <a:rPr dirty="0" sz="2400" lang="en-ID" err="1" smtClean="0"/>
              <a:t>teknologi</a:t>
            </a:r>
            <a:r>
              <a:rPr dirty="0" sz="2400" lang="en-ID" smtClean="0"/>
              <a:t> </a:t>
            </a:r>
            <a:r>
              <a:rPr dirty="0" sz="2400" lang="en-ID" err="1" smtClean="0"/>
              <a:t>dan</a:t>
            </a:r>
            <a:r>
              <a:rPr dirty="0" sz="2400" lang="en-ID" smtClean="0"/>
              <a:t> </a:t>
            </a:r>
            <a:r>
              <a:rPr dirty="0" sz="2400" lang="en-ID" err="1" smtClean="0"/>
              <a:t>memakai</a:t>
            </a:r>
            <a:r>
              <a:rPr dirty="0" sz="2400" lang="en-ID" smtClean="0"/>
              <a:t> </a:t>
            </a:r>
            <a:r>
              <a:rPr dirty="0" sz="2400" lang="en-ID" err="1" smtClean="0"/>
              <a:t>teknologi</a:t>
            </a:r>
            <a:r>
              <a:rPr dirty="0" sz="2400" lang="en-ID" smtClean="0"/>
              <a:t> routing </a:t>
            </a:r>
            <a:r>
              <a:rPr dirty="0" sz="2400" lang="en-ID" err="1" smtClean="0"/>
              <a:t>untuk</a:t>
            </a:r>
            <a:r>
              <a:rPr dirty="0" sz="2400" lang="en-ID" smtClean="0"/>
              <a:t> </a:t>
            </a:r>
            <a:r>
              <a:rPr dirty="0" sz="2400" lang="en-ID" err="1" smtClean="0"/>
              <a:t>menentukan</a:t>
            </a:r>
            <a:r>
              <a:rPr dirty="0" sz="2400" lang="en-ID" smtClean="0"/>
              <a:t> </a:t>
            </a:r>
            <a:r>
              <a:rPr dirty="0" sz="2400" lang="en-ID" err="1" smtClean="0"/>
              <a:t>paket</a:t>
            </a:r>
            <a:r>
              <a:rPr dirty="0" sz="2400" lang="en-ID" smtClean="0"/>
              <a:t> yang </a:t>
            </a:r>
            <a:r>
              <a:rPr dirty="0" sz="2400" lang="en-ID" err="1" smtClean="0"/>
              <a:t>diizinkan</a:t>
            </a:r>
            <a:r>
              <a:rPr dirty="0" sz="2400" lang="en-ID" smtClean="0"/>
              <a:t> </a:t>
            </a:r>
            <a:r>
              <a:rPr dirty="0" sz="2400" lang="en-ID" err="1" smtClean="0"/>
              <a:t>dan</a:t>
            </a:r>
            <a:r>
              <a:rPr dirty="0" sz="2400" lang="en-ID" smtClean="0"/>
              <a:t> </a:t>
            </a:r>
            <a:r>
              <a:rPr dirty="0" sz="2400" lang="en-ID" err="1" smtClean="0"/>
              <a:t>mana</a:t>
            </a:r>
            <a:r>
              <a:rPr dirty="0" sz="2400" lang="en-ID" smtClean="0"/>
              <a:t> </a:t>
            </a:r>
            <a:r>
              <a:rPr dirty="0" sz="2400" lang="en-ID" err="1" smtClean="0"/>
              <a:t>paket</a:t>
            </a:r>
            <a:r>
              <a:rPr dirty="0" sz="2400" lang="en-ID" smtClean="0"/>
              <a:t> yang </a:t>
            </a:r>
            <a:r>
              <a:rPr dirty="0" sz="2400" lang="en-ID" err="1" smtClean="0"/>
              <a:t>ditolak</a:t>
            </a:r>
            <a:r>
              <a:rPr dirty="0" sz="2400" lang="en-ID" smtClean="0"/>
              <a:t>.</a:t>
            </a:r>
          </a:p>
          <a:p>
            <a:pPr algn="just"/>
            <a:r>
              <a:rPr dirty="0" sz="2400" lang="en-ID" smtClean="0"/>
              <a:t>Network </a:t>
            </a:r>
            <a:r>
              <a:rPr dirty="0" sz="2400" lang="en-ID" err="1" smtClean="0"/>
              <a:t>mempunyai</a:t>
            </a:r>
            <a:r>
              <a:rPr dirty="0" sz="2400" lang="en-ID" smtClean="0"/>
              <a:t> </a:t>
            </a:r>
            <a:r>
              <a:rPr dirty="0" sz="2400" lang="en-ID" err="1" smtClean="0"/>
              <a:t>beberapa</a:t>
            </a:r>
            <a:r>
              <a:rPr dirty="0" sz="2400" lang="en-ID" smtClean="0"/>
              <a:t> </a:t>
            </a:r>
            <a:r>
              <a:rPr dirty="0" sz="2400" lang="en-ID" err="1" smtClean="0"/>
              <a:t>fitur</a:t>
            </a:r>
            <a:r>
              <a:rPr dirty="0" sz="2400" lang="en-ID" smtClean="0"/>
              <a:t> </a:t>
            </a:r>
            <a:r>
              <a:rPr dirty="0" sz="2400" lang="en-ID" err="1" smtClean="0"/>
              <a:t>utama</a:t>
            </a:r>
            <a:r>
              <a:rPr dirty="0" sz="2400" lang="en-ID" smtClean="0"/>
              <a:t> </a:t>
            </a:r>
            <a:r>
              <a:rPr dirty="0" sz="2400" lang="en-ID" err="1" smtClean="0"/>
              <a:t>yaitu</a:t>
            </a:r>
            <a:r>
              <a:rPr dirty="0" sz="2400" lang="en-ID" smtClean="0"/>
              <a:t> Packet Filter Firewall </a:t>
            </a:r>
            <a:r>
              <a:rPr dirty="0" sz="2400" lang="en-ID" err="1" smtClean="0"/>
              <a:t>dan</a:t>
            </a:r>
            <a:r>
              <a:rPr dirty="0" sz="2400" lang="en-ID" smtClean="0"/>
              <a:t> </a:t>
            </a:r>
            <a:r>
              <a:rPr dirty="0" sz="2400" lang="en-ID" err="1" smtClean="0"/>
              <a:t>Stateful</a:t>
            </a:r>
            <a:r>
              <a:rPr dirty="0" sz="2400" lang="en-ID" smtClean="0"/>
              <a:t> Firewall, Circuit Level Gateway, Application Level Gateway </a:t>
            </a:r>
            <a:r>
              <a:rPr dirty="0" sz="2400" lang="en-ID" err="1" smtClean="0"/>
              <a:t>dan</a:t>
            </a:r>
            <a:r>
              <a:rPr dirty="0" sz="2400" lang="en-ID" smtClean="0"/>
              <a:t> NAT Gateway. </a:t>
            </a:r>
            <a:endParaRPr dirty="0" sz="2400" lang="en-US"/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D" err="1" smtClean="0"/>
              <a:t>Karakteristik</a:t>
            </a:r>
            <a:r>
              <a:rPr dirty="0" lang="en-ID" smtClean="0"/>
              <a:t> Firewall</a:t>
            </a:r>
            <a:endParaRPr dirty="0" lang="en-US"/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dirty="0" lang="id-ID" smtClean="0"/>
              <a:t>Hanya yang terdaftar atau dikenal yang dapat melewati untuk melakukan hubungan.</a:t>
            </a:r>
          </a:p>
          <a:p>
            <a:pPr algn="just"/>
            <a:r>
              <a:rPr dirty="0" lang="en-ID" smtClean="0"/>
              <a:t>Firewall </a:t>
            </a:r>
            <a:r>
              <a:rPr dirty="0" lang="en-ID" err="1" smtClean="0"/>
              <a:t>harus</a:t>
            </a:r>
            <a:r>
              <a:rPr dirty="0" lang="en-ID" smtClean="0"/>
              <a:t> </a:t>
            </a:r>
            <a:r>
              <a:rPr dirty="0" lang="en-ID" err="1" smtClean="0"/>
              <a:t>dapat</a:t>
            </a:r>
            <a:r>
              <a:rPr dirty="0" lang="en-ID" smtClean="0"/>
              <a:t> </a:t>
            </a:r>
            <a:r>
              <a:rPr dirty="0" lang="en-ID" err="1" smtClean="0"/>
              <a:t>lebih</a:t>
            </a:r>
            <a:r>
              <a:rPr dirty="0" lang="en-ID" smtClean="0"/>
              <a:t> </a:t>
            </a:r>
            <a:r>
              <a:rPr dirty="0" lang="en-ID" err="1" smtClean="0"/>
              <a:t>kuat</a:t>
            </a:r>
            <a:r>
              <a:rPr dirty="0" lang="en-ID" smtClean="0"/>
              <a:t> </a:t>
            </a:r>
            <a:r>
              <a:rPr dirty="0" lang="en-ID" err="1" smtClean="0"/>
              <a:t>dan</a:t>
            </a:r>
            <a:r>
              <a:rPr dirty="0" lang="en-ID" smtClean="0"/>
              <a:t> </a:t>
            </a:r>
            <a:r>
              <a:rPr dirty="0" lang="en-ID" err="1" smtClean="0"/>
              <a:t>tangguh</a:t>
            </a:r>
            <a:r>
              <a:rPr dirty="0" lang="en-ID" smtClean="0"/>
              <a:t> </a:t>
            </a:r>
            <a:r>
              <a:rPr dirty="0" lang="en-ID" err="1" smtClean="0"/>
              <a:t>terhadap</a:t>
            </a:r>
            <a:r>
              <a:rPr dirty="0" lang="en-ID" smtClean="0"/>
              <a:t> </a:t>
            </a:r>
            <a:r>
              <a:rPr dirty="0" lang="en-ID" err="1" smtClean="0"/>
              <a:t>serangan</a:t>
            </a:r>
            <a:r>
              <a:rPr dirty="0" lang="en-ID" smtClean="0"/>
              <a:t> di </a:t>
            </a:r>
            <a:r>
              <a:rPr dirty="0" lang="en-ID" err="1" smtClean="0"/>
              <a:t>luar</a:t>
            </a:r>
            <a:r>
              <a:rPr dirty="0" lang="id-ID"/>
              <a:t>.</a:t>
            </a:r>
            <a:endParaRPr dirty="0" lang="en-ID" smtClean="0"/>
          </a:p>
          <a:p>
            <a:pPr algn="just"/>
            <a:r>
              <a:rPr dirty="0" lang="en-ID" err="1" smtClean="0"/>
              <a:t>Seluruh</a:t>
            </a:r>
            <a:r>
              <a:rPr dirty="0" lang="en-ID" smtClean="0"/>
              <a:t> </a:t>
            </a:r>
            <a:r>
              <a:rPr dirty="0" lang="en-ID" err="1" smtClean="0"/>
              <a:t>kegiatan</a:t>
            </a:r>
            <a:r>
              <a:rPr dirty="0" lang="en-ID" smtClean="0"/>
              <a:t> </a:t>
            </a:r>
            <a:r>
              <a:rPr dirty="0" lang="en-ID" smtClean="0"/>
              <a:t>yang</a:t>
            </a:r>
            <a:r>
              <a:rPr dirty="0" lang="id-ID" smtClean="0"/>
              <a:t> asalnya</a:t>
            </a:r>
            <a:r>
              <a:rPr dirty="0" lang="en-ID" smtClean="0"/>
              <a:t> </a:t>
            </a:r>
            <a:r>
              <a:rPr dirty="0" lang="en-ID" err="1" smtClean="0"/>
              <a:t>dari</a:t>
            </a:r>
            <a:r>
              <a:rPr dirty="0" lang="en-ID" smtClean="0"/>
              <a:t> </a:t>
            </a:r>
            <a:r>
              <a:rPr dirty="0" lang="en-ID" err="1" smtClean="0"/>
              <a:t>dalam</a:t>
            </a:r>
            <a:r>
              <a:rPr dirty="0" lang="en-ID" smtClean="0"/>
              <a:t> </a:t>
            </a:r>
            <a:r>
              <a:rPr dirty="0" lang="en-ID" err="1" smtClean="0"/>
              <a:t>ke</a:t>
            </a:r>
            <a:r>
              <a:rPr dirty="0" lang="en-ID" smtClean="0"/>
              <a:t> </a:t>
            </a:r>
            <a:r>
              <a:rPr dirty="0" lang="en-ID" err="1" smtClean="0"/>
              <a:t>luar</a:t>
            </a:r>
            <a:r>
              <a:rPr dirty="0" lang="en-ID" smtClean="0"/>
              <a:t> </a:t>
            </a:r>
            <a:r>
              <a:rPr dirty="0" lang="en-ID" err="1" smtClean="0"/>
              <a:t>harus</a:t>
            </a:r>
            <a:r>
              <a:rPr dirty="0" lang="en-ID" smtClean="0"/>
              <a:t> </a:t>
            </a:r>
            <a:r>
              <a:rPr dirty="0" lang="en-ID" err="1" smtClean="0"/>
              <a:t>melalui</a:t>
            </a:r>
            <a:r>
              <a:rPr dirty="0" lang="en-ID" smtClean="0"/>
              <a:t> firewall </a:t>
            </a:r>
            <a:r>
              <a:rPr dirty="0" lang="id-ID" smtClean="0"/>
              <a:t>ter</a:t>
            </a:r>
            <a:r>
              <a:rPr dirty="0" lang="en-ID" err="1" smtClean="0"/>
              <a:t>lebih</a:t>
            </a:r>
            <a:r>
              <a:rPr dirty="0" lang="en-ID" smtClean="0"/>
              <a:t> </a:t>
            </a:r>
            <a:r>
              <a:rPr dirty="0" lang="en-ID" err="1" smtClean="0"/>
              <a:t>dulu</a:t>
            </a:r>
            <a:r>
              <a:rPr dirty="0" lang="id-ID" smtClean="0"/>
              <a:t>.</a:t>
            </a:r>
            <a:endParaRPr dirty="0" lang="en-US"/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p>
            <a:r>
              <a:rPr dirty="0" lang="id-ID" smtClean="0"/>
              <a:t>Firewall berdasarkan bentuk</a:t>
            </a:r>
            <a:endParaRPr dirty="0" lang="en-US"/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96429" lnSpcReduction="10000"/>
          </a:bodyPr>
          <a:p>
            <a:pPr>
              <a:buFont typeface="Wingdings" pitchFamily="2" charset="2"/>
              <a:buChar char="Ø"/>
            </a:pPr>
            <a:r>
              <a:rPr dirty="0" lang="id-ID" smtClean="0"/>
              <a:t>1. Software Firewall adalah perangkat lunak yang dapat diinstal pada sistem komputer seperti aplikasi lainnya. Setelah diinstal aplikasi harus melakukan konfigurasi untuk perizinan komunikasi jaringan internet.</a:t>
            </a:r>
          </a:p>
          <a:p>
            <a:pPr algn="just" indent="0" marL="0">
              <a:buNone/>
            </a:pPr>
            <a:r>
              <a:rPr dirty="0" lang="id-ID" smtClean="0"/>
              <a:t>	</a:t>
            </a:r>
            <a:r>
              <a:rPr b="1" dirty="0" lang="id-ID" smtClean="0"/>
              <a:t>*Kelebihan</a:t>
            </a:r>
            <a:endParaRPr b="1" dirty="0" lang="id-ID"/>
          </a:p>
          <a:p>
            <a:pPr algn="just" indent="0" marL="0">
              <a:buNone/>
            </a:pPr>
            <a:r>
              <a:rPr dirty="0" lang="id-ID" smtClean="0"/>
              <a:t>	- mudah dikonfigurasi</a:t>
            </a:r>
          </a:p>
          <a:p>
            <a:pPr algn="just" indent="0" marL="0">
              <a:buNone/>
            </a:pPr>
            <a:r>
              <a:rPr dirty="0" lang="id-ID"/>
              <a:t>	</a:t>
            </a:r>
            <a:r>
              <a:rPr dirty="0" lang="id-ID" smtClean="0"/>
              <a:t>- harganya murah</a:t>
            </a:r>
          </a:p>
          <a:p>
            <a:pPr algn="just" indent="0" marL="0">
              <a:buNone/>
            </a:pPr>
            <a:r>
              <a:rPr dirty="0" lang="id-ID" smtClean="0"/>
              <a:t>	</a:t>
            </a:r>
            <a:r>
              <a:rPr b="1" dirty="0" lang="id-ID" smtClean="0"/>
              <a:t>*kekurangan</a:t>
            </a:r>
          </a:p>
          <a:p>
            <a:pPr algn="just" indent="0" marL="0">
              <a:buNone/>
            </a:pPr>
            <a:r>
              <a:rPr dirty="0" lang="id-ID"/>
              <a:t>	</a:t>
            </a:r>
            <a:r>
              <a:rPr dirty="0" lang="id-ID" smtClean="0"/>
              <a:t>- memakan </a:t>
            </a:r>
            <a:r>
              <a:rPr dirty="0" lang="id-ID"/>
              <a:t>sumber daya </a:t>
            </a:r>
            <a:r>
              <a:rPr dirty="0" lang="id-ID" smtClean="0"/>
              <a:t>komputer</a:t>
            </a:r>
          </a:p>
          <a:p>
            <a:pPr algn="just" indent="0" marL="0">
              <a:buNone/>
            </a:pPr>
            <a:r>
              <a:rPr dirty="0" lang="id-ID"/>
              <a:t>	</a:t>
            </a:r>
            <a:r>
              <a:rPr dirty="0" lang="id-ID" smtClean="0"/>
              <a:t>- terdapat versi yang berbeda untuk sistem 		   komputer yang berbeda </a:t>
            </a:r>
          </a:p>
          <a:p>
            <a:pPr indent="0" marL="0">
              <a:buNone/>
            </a:pPr>
            <a:endParaRPr dirty="0" lang="id-ID" smtClean="0"/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p>
            <a:pPr>
              <a:buFont typeface="Wingdings" pitchFamily="2" charset="2"/>
              <a:buChar char="Ø"/>
            </a:pPr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2. Network Firewall adalah perangkat khusus yang digunakan untuk memberikan keamanan.</a:t>
            </a:r>
          </a:p>
          <a:p>
            <a:pPr indent="0" marL="0">
              <a:buNone/>
            </a:pPr>
            <a:r>
              <a:rPr dirty="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b="1" dirty="0" lang="id-ID" smtClean="0">
                <a:latin typeface="Times New Roman" pitchFamily="18" charset="0"/>
                <a:cs typeface="Times New Roman" pitchFamily="18" charset="0"/>
              </a:rPr>
              <a:t>* kelebihan </a:t>
            </a:r>
          </a:p>
          <a:p>
            <a:pPr indent="0" marL="0">
              <a:buNone/>
            </a:pPr>
            <a:r>
              <a:rPr dirty="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- menyediakan perlindungan lebih banyak</a:t>
            </a:r>
          </a:p>
          <a:p>
            <a:pPr indent="0" marL="0">
              <a:buNone/>
            </a:pPr>
            <a:r>
              <a:rPr dirty="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- beroperasi secara independen terhadap 	   	  sistem operasi </a:t>
            </a:r>
          </a:p>
          <a:p>
            <a:pPr indent="0" marL="0">
              <a:buNone/>
            </a:pPr>
            <a:r>
              <a:rPr dirty="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b="1" dirty="0" lang="id-ID" smtClean="0">
                <a:latin typeface="Times New Roman" pitchFamily="18" charset="0"/>
                <a:cs typeface="Times New Roman" pitchFamily="18" charset="0"/>
              </a:rPr>
              <a:t>* kekurangan</a:t>
            </a:r>
          </a:p>
          <a:p>
            <a:pPr indent="0" marL="0">
              <a:buNone/>
            </a:pPr>
            <a:r>
              <a:rPr dirty="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- lebih mahal</a:t>
            </a:r>
          </a:p>
          <a:p>
            <a:pPr indent="0" marL="0">
              <a:buNone/>
            </a:pPr>
            <a:r>
              <a:rPr dirty="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- sulit dikonfigurasi</a:t>
            </a:r>
            <a:endParaRPr dirty="0"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p>
            <a:r>
              <a:rPr dirty="0" lang="id-ID" smtClean="0"/>
              <a:t>Metode Filter Firewall</a:t>
            </a:r>
            <a:endParaRPr dirty="0" lang="en-US"/>
          </a:p>
        </p:txBody>
      </p:sp>
      <p:sp>
        <p:nvSpPr>
          <p:cNvPr id="1048615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p>
            <a:pPr indent="0" marL="0">
              <a:buNone/>
            </a:pPr>
            <a:r>
              <a:rPr dirty="0" sz="2400" lang="id-ID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Packet Filtering Gateway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adalah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firewall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bekerja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di model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refensi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TCP/IP,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mempunyai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tugas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filtering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atau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penyaringan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data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atau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paket-paket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datang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luar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dilindungi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. Software yang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dipergunakan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dalam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filtering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adalah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b="1" dirty="0" sz="2400" lang="en-ID" err="1" smtClean="0">
                <a:latin typeface="Times New Roman" pitchFamily="18" charset="0"/>
                <a:cs typeface="Times New Roman" pitchFamily="18" charset="0"/>
              </a:rPr>
              <a:t>iptables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b="1" dirty="0" sz="2400" lang="en-ID" err="1" smtClean="0">
                <a:latin typeface="Times New Roman" pitchFamily="18" charset="0"/>
                <a:cs typeface="Times New Roman" pitchFamily="18" charset="0"/>
              </a:rPr>
              <a:t>ipfw</a:t>
            </a:r>
            <a:r>
              <a:rPr b="1" dirty="0" sz="2400" lang="id-ID" smtClean="0">
                <a:latin typeface="Times New Roman" pitchFamily="18" charset="0"/>
                <a:cs typeface="Times New Roman" pitchFamily="18" charset="0"/>
              </a:rPr>
              <a:t>.</a:t>
            </a:r>
            <a:endParaRPr b="1" dirty="0" sz="2400" lang="id-ID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b="1" dirty="0" sz="24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b="1" dirty="0" sz="2400" lang="id-ID" smtClean="0">
                <a:latin typeface="Times New Roman" pitchFamily="18" charset="0"/>
                <a:cs typeface="Times New Roman" pitchFamily="18" charset="0"/>
              </a:rPr>
              <a:t>* 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Filtering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paket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ini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hanya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terbatas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id-ID" smtClean="0">
                <a:latin typeface="Times New Roman" pitchFamily="18" charset="0"/>
                <a:cs typeface="Times New Roman" pitchFamily="18" charset="0"/>
              </a:rPr>
              <a:t>yaitu 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:</a:t>
            </a:r>
            <a:endParaRPr dirty="0" sz="2400" lang="id-ID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2400" lang="id-ID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2400" lang="id-ID" smtClean="0">
                <a:latin typeface="Times New Roman" pitchFamily="18" charset="0"/>
                <a:cs typeface="Times New Roman" pitchFamily="18" charset="0"/>
              </a:rPr>
              <a:t>a.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Sumber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paket</a:t>
            </a:r>
            <a:endParaRPr dirty="0" sz="2400" lang="id-ID" smtClean="0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24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2400" lang="id-ID" smtClean="0">
                <a:latin typeface="Times New Roman" pitchFamily="18" charset="0"/>
                <a:cs typeface="Times New Roman" pitchFamily="18" charset="0"/>
              </a:rPr>
              <a:t>b.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Tujuan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paket</a:t>
            </a:r>
            <a:endParaRPr dirty="0" sz="2400" lang="id-ID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24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2400" lang="id-ID" smtClean="0">
                <a:latin typeface="Times New Roman" pitchFamily="18" charset="0"/>
                <a:cs typeface="Times New Roman" pitchFamily="18" charset="0"/>
              </a:rPr>
              <a:t>c.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Atribut</a:t>
            </a:r>
            <a:r>
              <a:rPr dirty="0" sz="24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2400" lang="en-ID" err="1" smtClean="0">
                <a:latin typeface="Times New Roman" pitchFamily="18" charset="0"/>
                <a:cs typeface="Times New Roman" pitchFamily="18" charset="0"/>
              </a:rPr>
              <a:t>paket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indent="0" marL="0">
              <a:buNone/>
            </a:pPr>
            <a:endParaRPr dirty="0" lang="en-ID" smtClean="0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ID" err="1" smtClean="0"/>
              <a:t>Kelebihan</a:t>
            </a:r>
            <a:r>
              <a:rPr dirty="0" lang="en-ID" smtClean="0"/>
              <a:t> </a:t>
            </a:r>
            <a:endParaRPr dirty="0" lang="en-US"/>
          </a:p>
        </p:txBody>
      </p:sp>
      <p:sp>
        <p:nvSpPr>
          <p:cNvPr id="1048625" name="Text Placeholder 4"/>
          <p:cNvSpPr>
            <a:spLocks noGrp="1"/>
          </p:cNvSpPr>
          <p:nvPr>
            <p:ph type="body" sz="half" idx="3"/>
          </p:nvPr>
        </p:nvSpPr>
        <p:spPr/>
        <p:txBody>
          <a:bodyPr/>
          <a:p>
            <a:r>
              <a:rPr dirty="0" lang="en-ID" err="1" smtClean="0"/>
              <a:t>Kekurangan</a:t>
            </a:r>
            <a:r>
              <a:rPr dirty="0" lang="en-ID" smtClean="0"/>
              <a:t> </a:t>
            </a:r>
            <a:endParaRPr dirty="0" lang="en-US"/>
          </a:p>
        </p:txBody>
      </p:sp>
      <p:sp>
        <p:nvSpPr>
          <p:cNvPr id="1048626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p>
            <a:r>
              <a:rPr dirty="0" lang="en-ID" err="1" smtClean="0"/>
              <a:t>Mudah</a:t>
            </a:r>
            <a:r>
              <a:rPr dirty="0" lang="en-ID" smtClean="0"/>
              <a:t> </a:t>
            </a:r>
            <a:r>
              <a:rPr dirty="0" lang="en-ID" err="1" smtClean="0"/>
              <a:t>mengimplementasikan</a:t>
            </a:r>
            <a:endParaRPr dirty="0" lang="en-ID" smtClean="0"/>
          </a:p>
          <a:p>
            <a:r>
              <a:rPr dirty="0" lang="en-ID" err="1" smtClean="0"/>
              <a:t>Transparan</a:t>
            </a:r>
            <a:r>
              <a:rPr dirty="0" lang="en-ID" smtClean="0"/>
              <a:t> </a:t>
            </a:r>
            <a:r>
              <a:rPr dirty="0" lang="en-ID" err="1" smtClean="0"/>
              <a:t>bagi</a:t>
            </a:r>
            <a:r>
              <a:rPr dirty="0" lang="en-ID" smtClean="0"/>
              <a:t> </a:t>
            </a:r>
            <a:r>
              <a:rPr dirty="0" lang="en-ID" err="1" smtClean="0"/>
              <a:t>pengguna</a:t>
            </a:r>
            <a:r>
              <a:rPr dirty="0" lang="en-ID" smtClean="0"/>
              <a:t> </a:t>
            </a:r>
          </a:p>
          <a:p>
            <a:r>
              <a:rPr dirty="0" lang="en-ID" err="1" smtClean="0"/>
              <a:t>Relatif</a:t>
            </a:r>
            <a:r>
              <a:rPr dirty="0" lang="en-ID" smtClean="0"/>
              <a:t> </a:t>
            </a:r>
            <a:r>
              <a:rPr dirty="0" lang="en-ID" err="1" smtClean="0"/>
              <a:t>lebih</a:t>
            </a:r>
            <a:r>
              <a:rPr dirty="0" lang="en-ID" smtClean="0"/>
              <a:t> </a:t>
            </a:r>
            <a:r>
              <a:rPr dirty="0" lang="en-ID" err="1" smtClean="0"/>
              <a:t>cepat</a:t>
            </a:r>
            <a:endParaRPr dirty="0" lang="en-US"/>
          </a:p>
        </p:txBody>
      </p:sp>
      <p:sp>
        <p:nvSpPr>
          <p:cNvPr id="1048627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p>
            <a:r>
              <a:rPr dirty="0" lang="en-ID" err="1" smtClean="0"/>
              <a:t>Rumit</a:t>
            </a:r>
            <a:r>
              <a:rPr dirty="0" lang="en-ID" smtClean="0"/>
              <a:t> </a:t>
            </a:r>
            <a:r>
              <a:rPr dirty="0" lang="en-ID" err="1" smtClean="0"/>
              <a:t>dalam</a:t>
            </a:r>
            <a:r>
              <a:rPr dirty="0" lang="en-ID" smtClean="0"/>
              <a:t> proses </a:t>
            </a:r>
            <a:r>
              <a:rPr dirty="0" lang="en-ID" err="1" smtClean="0"/>
              <a:t>konfigurasi</a:t>
            </a:r>
            <a:endParaRPr dirty="0" lang="en-ID" smtClean="0"/>
          </a:p>
          <a:p>
            <a:r>
              <a:rPr dirty="0" lang="en-ID" err="1" smtClean="0"/>
              <a:t>Lemah</a:t>
            </a:r>
            <a:r>
              <a:rPr dirty="0" lang="en-ID" smtClean="0"/>
              <a:t> </a:t>
            </a:r>
            <a:r>
              <a:rPr dirty="0" lang="en-ID" err="1" smtClean="0"/>
              <a:t>dalam</a:t>
            </a:r>
            <a:r>
              <a:rPr dirty="0" lang="en-ID" smtClean="0"/>
              <a:t> </a:t>
            </a:r>
            <a:r>
              <a:rPr dirty="0" lang="en-ID" err="1" smtClean="0"/>
              <a:t>hal</a:t>
            </a:r>
            <a:r>
              <a:rPr dirty="0" lang="en-ID" smtClean="0"/>
              <a:t> </a:t>
            </a:r>
            <a:r>
              <a:rPr dirty="0" lang="en-ID" err="1" smtClean="0"/>
              <a:t>autentifikasi</a:t>
            </a:r>
            <a:endParaRPr dirty="0" lang="en-US"/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32143" lnSpcReduction="20000"/>
          </a:bodyPr>
          <a:p>
            <a:pPr algn="just" indent="0" marL="0">
              <a:buNone/>
            </a:pP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dirty="0" sz="8600" lang="en-ID" smtClean="0">
                <a:latin typeface="Times New Roman" pitchFamily="18" charset="0"/>
                <a:cs typeface="Times New Roman" pitchFamily="18" charset="0"/>
              </a:rPr>
              <a:t>Application Layer Gateway</a:t>
            </a:r>
            <a:r>
              <a:rPr dirty="0" sz="8600" lang="id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adalah mekanisme keamanan untuk aplikasi tertentu seperti FTP dan Telnet Server</a:t>
            </a:r>
          </a:p>
          <a:p>
            <a:pPr indent="0" marL="0">
              <a:buNone/>
            </a:pPr>
            <a:endParaRPr dirty="0" sz="8600" lang="id-ID" smtClean="0">
              <a:latin typeface="Times New Roman" pitchFamily="18" charset="0"/>
              <a:cs typeface="Times New Roman" pitchFamily="18" charset="0"/>
            </a:endParaRPr>
          </a:p>
          <a:p>
            <a:pPr algn="just" indent="0" marL="0">
              <a:buNone/>
            </a:pPr>
            <a:r>
              <a:rPr dirty="0" sz="86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* kelebihan</a:t>
            </a:r>
          </a:p>
          <a:p>
            <a:pPr algn="just" indent="0" marL="0">
              <a:buNone/>
            </a:pPr>
            <a:r>
              <a:rPr dirty="0" sz="86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- 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Relatif</a:t>
            </a:r>
            <a:r>
              <a:rPr dirty="0" sz="8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lebih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aman</a:t>
            </a:r>
            <a:endParaRPr dirty="0" sz="8600" lang="id-ID" smtClean="0">
              <a:latin typeface="Times New Roman" pitchFamily="18" charset="0"/>
              <a:cs typeface="Times New Roman" pitchFamily="18" charset="0"/>
            </a:endParaRPr>
          </a:p>
          <a:p>
            <a:pPr algn="just" indent="0" marL="0">
              <a:buNone/>
            </a:pPr>
            <a:r>
              <a:rPr dirty="0" sz="86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Lebih</a:t>
            </a:r>
            <a:r>
              <a:rPr dirty="0" sz="8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mudah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dalam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memeriksa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semua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aliran</a:t>
            </a:r>
            <a:r>
              <a:rPr dirty="0" sz="8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	    </a:t>
            </a:r>
            <a:r>
              <a:rPr dirty="0" sz="8600" lang="en-ID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dirty="0" sz="8600" lang="id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smtClean="0">
                <a:latin typeface="Times New Roman" pitchFamily="18" charset="0"/>
                <a:cs typeface="Times New Roman" pitchFamily="18" charset="0"/>
              </a:rPr>
              <a:t>yang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masuk</a:t>
            </a:r>
            <a:endParaRPr dirty="0" sz="8600" lang="id-ID" smtClean="0">
              <a:latin typeface="Times New Roman" pitchFamily="18" charset="0"/>
              <a:cs typeface="Times New Roman" pitchFamily="18" charset="0"/>
            </a:endParaRPr>
          </a:p>
          <a:p>
            <a:pPr algn="just" indent="0" marL="0">
              <a:buNone/>
            </a:pPr>
            <a:r>
              <a:rPr dirty="0" sz="86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* kekurangan</a:t>
            </a:r>
          </a:p>
          <a:p>
            <a:pPr algn="just" indent="0" marL="0">
              <a:buNone/>
            </a:pPr>
            <a:r>
              <a:rPr dirty="0" sz="86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Pemprosesan</a:t>
            </a:r>
            <a:r>
              <a:rPr dirty="0" sz="8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tambahan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yang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lebih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pada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setiap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	  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hubungan</a:t>
            </a:r>
            <a:endParaRPr dirty="0" sz="8600" lang="id-ID">
              <a:latin typeface="Times New Roman" pitchFamily="18" charset="0"/>
              <a:cs typeface="Times New Roman" pitchFamily="18" charset="0"/>
            </a:endParaRPr>
          </a:p>
          <a:p>
            <a:pPr algn="just" indent="0" marL="0">
              <a:buNone/>
            </a:pP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	-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Bisa</a:t>
            </a:r>
            <a:r>
              <a:rPr dirty="0" sz="8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terjadi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masalah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2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sambungan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>
                <a:latin typeface="Times New Roman" pitchFamily="18" charset="0"/>
                <a:cs typeface="Times New Roman" pitchFamily="18" charset="0"/>
              </a:rPr>
              <a:t>koneksi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		 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antara</a:t>
            </a:r>
            <a:r>
              <a:rPr dirty="0" sz="8600" lang="id-ID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penguna</a:t>
            </a:r>
            <a:r>
              <a:rPr dirty="0" sz="8600" lang="id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dirty="0" sz="86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8600" lang="en-ID">
                <a:latin typeface="Times New Roman" pitchFamily="18" charset="0"/>
                <a:cs typeface="Times New Roman" pitchFamily="18" charset="0"/>
              </a:rPr>
              <a:t>gateway </a:t>
            </a:r>
            <a:endParaRPr dirty="0" sz="8600" lang="en-US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endParaRPr dirty="0" sz="2800" lang="id-ID" smtClean="0"/>
          </a:p>
          <a:p>
            <a:pPr indent="0" marL="0">
              <a:buNone/>
            </a:pPr>
            <a:endParaRPr dirty="0" sz="2800" lang="id-ID" smtClean="0"/>
          </a:p>
          <a:p>
            <a:pPr indent="0" marL="0">
              <a:buNone/>
            </a:pPr>
            <a:endParaRPr dirty="0" lang="en-ID"/>
          </a:p>
          <a:p>
            <a:pPr indent="0" marL="0">
              <a:buNone/>
            </a:pPr>
            <a:r>
              <a:rPr dirty="0" lang="id-ID" smtClean="0"/>
              <a:t> </a:t>
            </a:r>
            <a:endParaRPr dirty="0" lang="en-US"/>
          </a:p>
        </p:txBody>
      </p:sp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39286" lnSpcReduction="20000"/>
          </a:bodyPr>
          <a:p>
            <a:pPr algn="just" indent="0" marL="0">
              <a:buNone/>
            </a:pPr>
            <a:r>
              <a:rPr dirty="0" sz="5900" lang="id-ID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Circuit </a:t>
            </a:r>
            <a:r>
              <a:rPr dirty="0" sz="7000" lang="en-ID">
                <a:latin typeface="Times New Roman" pitchFamily="18" charset="0"/>
                <a:cs typeface="Times New Roman" pitchFamily="18" charset="0"/>
              </a:rPr>
              <a:t>level 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gateway</a:t>
            </a:r>
            <a:r>
              <a:rPr dirty="0" sz="7000" lang="id-ID" smtClean="0">
                <a:latin typeface="Times New Roman" pitchFamily="18" charset="0"/>
                <a:cs typeface="Times New Roman" pitchFamily="18" charset="0"/>
              </a:rPr>
              <a:t> adalah </a:t>
            </a:r>
            <a:r>
              <a:rPr dirty="0" sz="7000" lang="id-ID">
                <a:latin typeface="Times New Roman" pitchFamily="18" charset="0"/>
                <a:cs typeface="Times New Roman" pitchFamily="18" charset="0"/>
              </a:rPr>
              <a:t>m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elakukan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pengawasan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dan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penyaringan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data yang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lewat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untuk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selanjutnya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diteruskan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ke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dalam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atau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bahkan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ditolak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oleh</a:t>
            </a:r>
            <a:r>
              <a:rPr dirty="0" sz="70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en-ID" err="1" smtClean="0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sz="7000" lang="id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7000" lang="id-ID" smtClean="0">
                <a:latin typeface="Times New Roman" pitchFamily="18" charset="0"/>
                <a:cs typeface="Times New Roman" pitchFamily="18" charset="0"/>
              </a:rPr>
              <a:t>dan sebagai mekanisme keamanan koneksi TCP maupun UDP.</a:t>
            </a:r>
          </a:p>
          <a:p>
            <a:pPr algn="just" indent="0" marL="0">
              <a:buNone/>
            </a:pPr>
            <a:endParaRPr dirty="0" sz="5900" lang="id-ID" smtClean="0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5900" lang="id-ID" smtClean="0">
                <a:latin typeface="Times New Roman" pitchFamily="18" charset="0"/>
                <a:cs typeface="Times New Roman" pitchFamily="18" charset="0"/>
              </a:rPr>
              <a:t>	* Kelebihan </a:t>
            </a:r>
          </a:p>
          <a:p>
            <a:pPr indent="0" marL="0">
              <a:buNone/>
            </a:pPr>
            <a:r>
              <a:rPr dirty="0" sz="5900" lang="id-ID" smtClean="0">
                <a:latin typeface="Times New Roman" pitchFamily="18" charset="0"/>
                <a:cs typeface="Times New Roman" pitchFamily="18" charset="0"/>
              </a:rPr>
              <a:t>	1. </a:t>
            </a:r>
            <a:r>
              <a:rPr dirty="0" sz="5900" lang="en-ID" err="1" smtClean="0">
                <a:latin typeface="Times New Roman" pitchFamily="18" charset="0"/>
                <a:cs typeface="Times New Roman" pitchFamily="18" charset="0"/>
              </a:rPr>
              <a:t>Relatif</a:t>
            </a:r>
            <a:r>
              <a:rPr dirty="0" sz="59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>
                <a:latin typeface="Times New Roman" pitchFamily="18" charset="0"/>
                <a:cs typeface="Times New Roman" pitchFamily="18" charset="0"/>
              </a:rPr>
              <a:t>lebih</a:t>
            </a:r>
            <a:r>
              <a:rPr dirty="0" sz="59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>
                <a:latin typeface="Times New Roman" pitchFamily="18" charset="0"/>
                <a:cs typeface="Times New Roman" pitchFamily="18" charset="0"/>
              </a:rPr>
              <a:t>murah</a:t>
            </a:r>
            <a:endParaRPr dirty="0" sz="5900" lang="en-ID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5900" lang="id-ID" smtClean="0">
                <a:latin typeface="Times New Roman" pitchFamily="18" charset="0"/>
                <a:cs typeface="Times New Roman" pitchFamily="18" charset="0"/>
              </a:rPr>
              <a:t>	2. </a:t>
            </a:r>
            <a:r>
              <a:rPr dirty="0" sz="5900" lang="en-ID" err="1" smtClean="0">
                <a:latin typeface="Times New Roman" pitchFamily="18" charset="0"/>
                <a:cs typeface="Times New Roman" pitchFamily="18" charset="0"/>
              </a:rPr>
              <a:t>Memberikan</a:t>
            </a:r>
            <a:r>
              <a:rPr dirty="0" sz="59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>
                <a:latin typeface="Times New Roman" pitchFamily="18" charset="0"/>
                <a:cs typeface="Times New Roman" pitchFamily="18" charset="0"/>
              </a:rPr>
              <a:t>anonimitas</a:t>
            </a:r>
            <a:r>
              <a:rPr dirty="0" sz="59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>
                <a:latin typeface="Times New Roman" pitchFamily="18" charset="0"/>
                <a:cs typeface="Times New Roman" pitchFamily="18" charset="0"/>
              </a:rPr>
              <a:t>terhadap</a:t>
            </a:r>
            <a:r>
              <a:rPr dirty="0" sz="59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>
                <a:latin typeface="Times New Roman" pitchFamily="18" charset="0"/>
                <a:cs typeface="Times New Roman" pitchFamily="18" charset="0"/>
              </a:rPr>
              <a:t>jaringan</a:t>
            </a:r>
            <a:r>
              <a:rPr dirty="0" sz="59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 smtClean="0">
                <a:latin typeface="Times New Roman" pitchFamily="18" charset="0"/>
                <a:cs typeface="Times New Roman" pitchFamily="18" charset="0"/>
              </a:rPr>
              <a:t>pribadi</a:t>
            </a:r>
            <a:endParaRPr dirty="0" sz="5900" lang="id-ID" smtClean="0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endParaRPr dirty="0" sz="5900" lang="id-ID" smtClean="0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59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5900" lang="id-ID" smtClean="0">
                <a:latin typeface="Times New Roman" pitchFamily="18" charset="0"/>
                <a:cs typeface="Times New Roman" pitchFamily="18" charset="0"/>
              </a:rPr>
              <a:t>* Kekurangan </a:t>
            </a:r>
            <a:endParaRPr dirty="0" sz="5900" lang="id-ID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5900" lang="id-ID" smtClean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dirty="0" sz="5900" lang="en-ID" err="1" smtClean="0">
                <a:latin typeface="Times New Roman" pitchFamily="18" charset="0"/>
                <a:cs typeface="Times New Roman" pitchFamily="18" charset="0"/>
              </a:rPr>
              <a:t>Tak</a:t>
            </a:r>
            <a:r>
              <a:rPr dirty="0" sz="59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>
                <a:latin typeface="Times New Roman" pitchFamily="18" charset="0"/>
                <a:cs typeface="Times New Roman" pitchFamily="18" charset="0"/>
              </a:rPr>
              <a:t>menyaring</a:t>
            </a:r>
            <a:r>
              <a:rPr dirty="0" sz="5900" lang="en-ID">
                <a:latin typeface="Times New Roman" pitchFamily="18" charset="0"/>
                <a:cs typeface="Times New Roman" pitchFamily="18" charset="0"/>
              </a:rPr>
              <a:t> individual </a:t>
            </a:r>
            <a:r>
              <a:rPr dirty="0" sz="5900" lang="en-ID" smtClean="0">
                <a:latin typeface="Times New Roman" pitchFamily="18" charset="0"/>
                <a:cs typeface="Times New Roman" pitchFamily="18" charset="0"/>
              </a:rPr>
              <a:t>packet</a:t>
            </a:r>
            <a:endParaRPr dirty="0" sz="5900" lang="id-ID" smtClean="0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r>
              <a:rPr dirty="0" sz="590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5900" lang="id-ID" smtClean="0">
                <a:latin typeface="Times New Roman" pitchFamily="18" charset="0"/>
                <a:cs typeface="Times New Roman" pitchFamily="18" charset="0"/>
              </a:rPr>
              <a:t>b. </a:t>
            </a:r>
            <a:r>
              <a:rPr dirty="0" sz="5900" lang="en-ID" err="1" smtClean="0">
                <a:latin typeface="Times New Roman" pitchFamily="18" charset="0"/>
                <a:cs typeface="Times New Roman" pitchFamily="18" charset="0"/>
              </a:rPr>
              <a:t>Setelah</a:t>
            </a:r>
            <a:r>
              <a:rPr dirty="0" sz="59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>
                <a:latin typeface="Times New Roman" pitchFamily="18" charset="0"/>
                <a:cs typeface="Times New Roman" pitchFamily="18" charset="0"/>
              </a:rPr>
              <a:t>terkoneksi</a:t>
            </a:r>
            <a:r>
              <a:rPr dirty="0" sz="5900" lang="en-ID">
                <a:latin typeface="Times New Roman" pitchFamily="18" charset="0"/>
                <a:cs typeface="Times New Roman" pitchFamily="18" charset="0"/>
              </a:rPr>
              <a:t>, attacker </a:t>
            </a:r>
            <a:r>
              <a:rPr dirty="0" sz="5900" lang="en-ID" err="1">
                <a:latin typeface="Times New Roman" pitchFamily="18" charset="0"/>
                <a:cs typeface="Times New Roman" pitchFamily="18" charset="0"/>
              </a:rPr>
              <a:t>bisa</a:t>
            </a:r>
            <a:r>
              <a:rPr dirty="0" sz="59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>
                <a:latin typeface="Times New Roman" pitchFamily="18" charset="0"/>
                <a:cs typeface="Times New Roman" pitchFamily="18" charset="0"/>
              </a:rPr>
              <a:t>memanfaatkan</a:t>
            </a:r>
            <a:r>
              <a:rPr dirty="0" sz="5900" lang="en-ID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id-ID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z="5900" lang="en-ID" err="1" smtClean="0">
                <a:latin typeface="Times New Roman" pitchFamily="18" charset="0"/>
                <a:cs typeface="Times New Roman" pitchFamily="18" charset="0"/>
              </a:rPr>
              <a:t>kelemahan</a:t>
            </a:r>
            <a:r>
              <a:rPr dirty="0" sz="5900" lang="en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z="5900" lang="en-ID" err="1" smtClean="0">
                <a:latin typeface="Times New Roman" pitchFamily="18" charset="0"/>
                <a:cs typeface="Times New Roman" pitchFamily="18" charset="0"/>
              </a:rPr>
              <a:t>tersebut</a:t>
            </a:r>
            <a:endParaRPr dirty="0" sz="5900" lang="en-US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endParaRPr dirty="0" lang="id-ID" smtClean="0"/>
          </a:p>
          <a:p>
            <a:pPr indent="0" marL="0">
              <a:buNone/>
            </a:pPr>
            <a:endParaRPr dirty="0" lang="en-US"/>
          </a:p>
          <a:p>
            <a:pPr indent="0" marL="0">
              <a:buNone/>
            </a:pPr>
            <a:r>
              <a:rPr dirty="0" lang="id-ID" smtClean="0"/>
              <a:t> </a:t>
            </a:r>
            <a:endParaRPr dirty="0" lang="en-US"/>
          </a:p>
        </p:txBody>
      </p:sp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92857" lnSpcReduction="10000"/>
          </a:bodyPr>
          <a:p>
            <a:pPr algn="just" indent="0" marL="0">
              <a:buNone/>
            </a:pP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4.</a:t>
            </a:r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Stateful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Multilayer Inspection Firewall</a:t>
            </a:r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 adalah gabungan 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firewall 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yang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bekerja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3 layer 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model 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OSI, </a:t>
            </a:r>
            <a:r>
              <a:rPr dirty="0" lang="en-ID" err="1" smtClean="0">
                <a:latin typeface="Times New Roman" pitchFamily="18" charset="0"/>
                <a:cs typeface="Times New Roman" pitchFamily="18" charset="0"/>
              </a:rPr>
              <a:t>yakni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algn="just" indent="0" marL="0">
              <a:buNone/>
            </a:pP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	1.Layer application</a:t>
            </a:r>
          </a:p>
          <a:p>
            <a:pPr algn="just" indent="0" marL="0">
              <a:buNone/>
            </a:pPr>
            <a:r>
              <a:rPr dirty="0" lang="en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2.Layer transport</a:t>
            </a:r>
          </a:p>
          <a:p>
            <a:pPr algn="just" indent="0" marL="0">
              <a:buNone/>
            </a:pPr>
            <a:r>
              <a:rPr dirty="0" lang="en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lang="en-ID" smtClean="0">
                <a:latin typeface="Times New Roman" pitchFamily="18" charset="0"/>
                <a:cs typeface="Times New Roman" pitchFamily="18" charset="0"/>
              </a:rPr>
              <a:t>3.Layer network</a:t>
            </a:r>
            <a:r>
              <a:rPr dirty="0" lang="en-ID">
                <a:latin typeface="Times New Roman" pitchFamily="18" charset="0"/>
                <a:cs typeface="Times New Roman" pitchFamily="18" charset="0"/>
              </a:rPr>
              <a:t>	</a:t>
            </a:r>
            <a:endParaRPr dirty="0" lang="id-ID" smtClean="0">
              <a:latin typeface="Times New Roman" pitchFamily="18" charset="0"/>
              <a:cs typeface="Times New Roman" pitchFamily="18" charset="0"/>
            </a:endParaRPr>
          </a:p>
          <a:p>
            <a:pPr algn="just" indent="0" marL="0">
              <a:buNone/>
            </a:pPr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Jadi, memberikan fitur terbanyak dan tingkat keamanannya paling tinggi.</a:t>
            </a:r>
          </a:p>
          <a:p>
            <a:pPr algn="just" indent="0" marL="0">
              <a:buNone/>
            </a:pPr>
            <a:r>
              <a:rPr dirty="0" lang="id-ID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lang="id-ID" smtClean="0">
                <a:latin typeface="Times New Roman" pitchFamily="18" charset="0"/>
                <a:cs typeface="Times New Roman" pitchFamily="18" charset="0"/>
              </a:rPr>
              <a:t>* kelebihan </a:t>
            </a:r>
          </a:p>
          <a:p>
            <a:pPr algn="just"/>
            <a:r>
              <a:rPr dirty="0" lang="en-ID" err="1"/>
              <a:t>Koneksi</a:t>
            </a:r>
            <a:r>
              <a:rPr dirty="0" lang="en-ID"/>
              <a:t> </a:t>
            </a:r>
            <a:r>
              <a:rPr dirty="0" lang="en-ID" err="1"/>
              <a:t>dan</a:t>
            </a:r>
            <a:r>
              <a:rPr dirty="0" lang="en-ID"/>
              <a:t> transfer data </a:t>
            </a:r>
            <a:r>
              <a:rPr dirty="0" lang="en-ID" err="1"/>
              <a:t>lebih</a:t>
            </a:r>
            <a:r>
              <a:rPr dirty="0" lang="en-ID"/>
              <a:t> </a:t>
            </a:r>
            <a:r>
              <a:rPr dirty="0" lang="en-ID" err="1"/>
              <a:t>aman</a:t>
            </a:r>
            <a:endParaRPr dirty="0" lang="en-ID"/>
          </a:p>
          <a:p>
            <a:pPr algn="just"/>
            <a:r>
              <a:rPr dirty="0" lang="en-ID" err="1"/>
              <a:t>Bekerja</a:t>
            </a:r>
            <a:r>
              <a:rPr dirty="0" lang="en-ID"/>
              <a:t> </a:t>
            </a:r>
            <a:r>
              <a:rPr dirty="0" lang="en-ID" err="1"/>
              <a:t>dalam</a:t>
            </a:r>
            <a:r>
              <a:rPr dirty="0" lang="en-ID"/>
              <a:t> mode </a:t>
            </a:r>
            <a:r>
              <a:rPr dirty="0" lang="en-ID" err="1"/>
              <a:t>transparan</a:t>
            </a:r>
            <a:r>
              <a:rPr dirty="0" lang="en-ID"/>
              <a:t> yang </a:t>
            </a:r>
            <a:r>
              <a:rPr dirty="0" lang="en-ID" err="1"/>
              <a:t>memungkinkan</a:t>
            </a:r>
            <a:r>
              <a:rPr dirty="0" lang="en-ID"/>
              <a:t> </a:t>
            </a:r>
            <a:r>
              <a:rPr dirty="0" lang="en-ID" err="1"/>
              <a:t>koneksi</a:t>
            </a:r>
            <a:r>
              <a:rPr dirty="0" lang="en-ID"/>
              <a:t> </a:t>
            </a:r>
            <a:r>
              <a:rPr dirty="0" lang="en-ID" err="1"/>
              <a:t>secara</a:t>
            </a:r>
            <a:r>
              <a:rPr dirty="0" lang="en-ID"/>
              <a:t> </a:t>
            </a:r>
            <a:r>
              <a:rPr dirty="0" lang="en-ID" err="1"/>
              <a:t>langsung</a:t>
            </a:r>
            <a:r>
              <a:rPr dirty="0" lang="en-ID"/>
              <a:t> </a:t>
            </a:r>
            <a:r>
              <a:rPr dirty="0" lang="en-ID" err="1"/>
              <a:t>antara</a:t>
            </a:r>
            <a:r>
              <a:rPr dirty="0" lang="en-ID"/>
              <a:t> client </a:t>
            </a:r>
            <a:r>
              <a:rPr dirty="0" lang="en-ID" err="1"/>
              <a:t>dan</a:t>
            </a:r>
            <a:r>
              <a:rPr dirty="0" lang="en-ID"/>
              <a:t> server yang </a:t>
            </a:r>
            <a:r>
              <a:rPr dirty="0" lang="en-ID" err="1"/>
              <a:t>sebelumnya</a:t>
            </a:r>
            <a:r>
              <a:rPr dirty="0" lang="en-ID"/>
              <a:t> </a:t>
            </a:r>
            <a:r>
              <a:rPr dirty="0" lang="en-ID" err="1"/>
              <a:t>tak</a:t>
            </a:r>
            <a:r>
              <a:rPr dirty="0" lang="en-ID"/>
              <a:t> </a:t>
            </a:r>
            <a:r>
              <a:rPr dirty="0" lang="en-ID" err="1"/>
              <a:t>memungkinkan</a:t>
            </a:r>
            <a:r>
              <a:rPr dirty="0" lang="en-ID"/>
              <a:t> </a:t>
            </a:r>
            <a:endParaRPr dirty="0" lang="en-US"/>
          </a:p>
          <a:p>
            <a:pPr algn="just" indent="0" marL="0">
              <a:buNone/>
            </a:pPr>
            <a:endParaRPr dirty="0" lang="id-ID" smtClean="0">
              <a:latin typeface="Times New Roman" pitchFamily="18" charset="0"/>
              <a:cs typeface="Times New Roman" pitchFamily="18" charset="0"/>
            </a:endParaRP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id-ID" smtClean="0"/>
              <a:t>Jenis arsitektur firewall</a:t>
            </a:r>
            <a:endParaRPr dirty="0" lang="en-US"/>
          </a:p>
        </p:txBody>
      </p:sp>
      <p:sp>
        <p:nvSpPr>
          <p:cNvPr id="104863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6429" lnSpcReduction="10000"/>
          </a:bodyPr>
          <a:p>
            <a:r>
              <a:rPr dirty="0" lang="id-ID" smtClean="0"/>
              <a:t>1. dual homed architecure adalah komputer yang memiliki paling sedikit 2 interface jaringan</a:t>
            </a:r>
          </a:p>
          <a:p>
            <a:r>
              <a:rPr dirty="0" lang="id-ID" smtClean="0"/>
              <a:t>2. screened host architecture adalah menyediakan service dari sebuah host pada jaringan internal dengan menggunakan router yang terpisah.</a:t>
            </a:r>
          </a:p>
          <a:p>
            <a:r>
              <a:rPr dirty="0" lang="id-ID" smtClean="0"/>
              <a:t>3. screened subnet architecture adalah menambah sebuah jaringan parameter yang lebih mengisolasi jaringan internal dari jaringan internet </a:t>
            </a:r>
            <a:endParaRPr dirty="0" lang="en-US"/>
          </a:p>
        </p:txBody>
      </p:sp>
    </p:spTree>
  </p:cSld>
  <p:clrMapOvr>
    <a:masterClrMapping/>
  </p:clrMapOvr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dirty="0" lang="id-ID" smtClean="0"/>
              <a:t>Terima kasih </a:t>
            </a:r>
            <a:endParaRPr dirty="0" lang="en-US"/>
          </a:p>
        </p:txBody>
      </p:sp>
      <p:sp>
        <p:nvSpPr>
          <p:cNvPr id="1048634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dirty="0" lang="en-US"/>
          </a:p>
        </p:txBody>
      </p:sp>
    </p:spTree>
  </p:cSld>
  <p:clrMapOvr>
    <a:masterClrMapping/>
  </p:clrMapOvr>
  <p:timing/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lastClr="000000" val="windowText"/>
      </a:dk1>
      <a:lt1>
        <a:sysClr lastClr="FFFFFF" val="window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algn="tl" blurRad="130000" dir="2700000" dist="1016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r="2700000" dist="228600" rotWithShape="0" sy="90000">
              <a:srgbClr val="000000">
                <a:alpha val="25500"/>
              </a:srgbClr>
            </a:outerShdw>
          </a:effectLst>
        </a:effectStyle>
        <a:effectStyle>
          <a:effectLst>
            <a:outerShdw blurRad="190500" dir="2700000" dist="228600" rotWithShape="0" sy="9000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dir="tl" rig="soft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KELOMPOK 5</dc:title>
  <dc:creator>OWNER</dc:creator>
  <cp:lastModifiedBy>win10</cp:lastModifiedBy>
  <dcterms:created xsi:type="dcterms:W3CDTF">2020-01-08T11:08:18Z</dcterms:created>
  <dcterms:modified xsi:type="dcterms:W3CDTF">2020-02-29T05:13:45Z</dcterms:modified>
</cp:coreProperties>
</file>